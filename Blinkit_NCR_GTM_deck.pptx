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292608" y="146304"/>
            <a:ext cx="1783080" cy="457200"/>
          </a:xfrm>
          <a:prstGeom prst="homePlate">
            <a:avLst/>
          </a:prstGeom>
          <a:solidFill>
            <a:srgbClr val="20201C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6CB46"/>
                </a:solidFill>
                <a:latin typeface="Trebuchet MS"/>
              </a:rPr>
              <a:t>The Gap</a:t>
            </a:r>
          </a:p>
        </p:txBody>
      </p:sp>
      <p:sp>
        <p:nvSpPr>
          <p:cNvPr id="5" name="Chevron 4"/>
          <p:cNvSpPr/>
          <p:nvPr/>
        </p:nvSpPr>
        <p:spPr>
          <a:xfrm>
            <a:off x="1883664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57984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Model</a:t>
            </a:r>
          </a:p>
        </p:txBody>
      </p:sp>
      <p:sp>
        <p:nvSpPr>
          <p:cNvPr id="7" name="Chevron 6"/>
          <p:cNvSpPr/>
          <p:nvPr/>
        </p:nvSpPr>
        <p:spPr>
          <a:xfrm>
            <a:off x="3474720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Pick</a:t>
            </a:r>
          </a:p>
        </p:txBody>
      </p:sp>
      <p:sp>
        <p:nvSpPr>
          <p:cNvPr id="9" name="Chevron 8"/>
          <p:cNvSpPr/>
          <p:nvPr/>
        </p:nvSpPr>
        <p:spPr>
          <a:xfrm>
            <a:off x="5065776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0096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Rollout</a:t>
            </a:r>
          </a:p>
        </p:txBody>
      </p:sp>
      <p:sp>
        <p:nvSpPr>
          <p:cNvPr id="11" name="Chevron 10"/>
          <p:cNvSpPr/>
          <p:nvPr/>
        </p:nvSpPr>
        <p:spPr>
          <a:xfrm>
            <a:off x="6656832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Economics</a:t>
            </a:r>
          </a:p>
        </p:txBody>
      </p:sp>
      <p:sp>
        <p:nvSpPr>
          <p:cNvPr id="13" name="Chevron 12"/>
          <p:cNvSpPr/>
          <p:nvPr/>
        </p:nvSpPr>
        <p:spPr>
          <a:xfrm>
            <a:off x="8247888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210312"/>
            <a:ext cx="1682496" cy="7680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0201C"/>
                </a:solidFill>
                <a:latin typeface="Trebuchet MS"/>
              </a:rPr>
              <a:t>blink</a:t>
            </a:r>
            <a:r>
              <a:rPr sz="1600" b="1">
                <a:solidFill>
                  <a:srgbClr val="2C813A"/>
                </a:solidFill>
                <a:latin typeface="Trebuchet MS"/>
              </a:rPr>
              <a:t>it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-1865376" y="36576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1">
                <a:solidFill>
                  <a:srgbClr val="8E876F"/>
                </a:solidFill>
                <a:latin typeface="Trebuchet MS"/>
              </a:rPr>
              <a:t>The leader's real question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" y="763524"/>
            <a:ext cx="2743200" cy="137160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713232"/>
            <a:ext cx="2743200" cy="1371600"/>
          </a:xfrm>
          <a:prstGeom prst="roundRect">
            <a:avLst>
              <a:gd name="adj" fmla="val 5000"/>
            </a:avLst>
          </a:prstGeom>
          <a:solidFill>
            <a:srgbClr val="20201C"/>
          </a:solidFill>
          <a:ln w="12700">
            <a:solidFill>
              <a:srgbClr val="20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841248"/>
            <a:ext cx="1787652" cy="7955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Trebuchet MS"/>
              </a:rPr>
              <a:t>blink</a:t>
            </a:r>
            <a:r>
              <a:rPr sz="1700" b="1">
                <a:solidFill>
                  <a:srgbClr val="2C813A"/>
                </a:solidFill>
                <a:latin typeface="Trebuchet MS"/>
              </a:rPr>
              <a:t>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122529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6CB46"/>
                </a:solidFill>
                <a:latin typeface="Trebuchet MS"/>
              </a:rPr>
              <a:t>NCR DARK-STORE GTM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151790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A go-to-market decision, backed by 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1588" y="763524"/>
            <a:ext cx="7818120" cy="137160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20440" y="713232"/>
            <a:ext cx="7818120" cy="1371600"/>
          </a:xfrm>
          <a:prstGeom prst="roundRect">
            <a:avLst>
              <a:gd name="adj" fmla="val 5000"/>
            </a:avLst>
          </a:prstGeom>
          <a:solidFill>
            <a:srgbClr val="FBEFC4"/>
          </a:solidFill>
          <a:ln w="12700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841248"/>
            <a:ext cx="7406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0201C"/>
                </a:solidFill>
                <a:latin typeface="Trebuchet MS"/>
              </a:rPr>
              <a:t>PROBLEM STATEMENT — Blinkit's missing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1170432"/>
            <a:ext cx="7406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C5648"/>
                </a:solidFill>
                <a:latin typeface="Calibri"/>
              </a:rPr>
              <a:t>Blinkit already leads NCR — so the question isn't "where is there a gap." It's: on the growth frontier, which corridor earns the next dark store (the most incremental, profitable demand we're losing), and where would we only cannibalise ourselves?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" y="2290572"/>
            <a:ext cx="2542032" cy="91440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2240280"/>
            <a:ext cx="254203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2240280"/>
            <a:ext cx="2542032" cy="91440"/>
          </a:xfrm>
          <a:prstGeom prst="roundRect">
            <a:avLst>
              <a:gd name="adj" fmla="val 50000"/>
            </a:avLst>
          </a:prstGeom>
          <a:solidFill>
            <a:srgbClr val="2C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2395728"/>
            <a:ext cx="2240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0201C"/>
                </a:solidFill>
                <a:latin typeface="Trebuchet MS"/>
              </a:rPr>
              <a:t>2,243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" y="28529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5648"/>
                </a:solidFill>
                <a:latin typeface="Calibri"/>
              </a:rPr>
              <a:t>dark stores · Q4 FY26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7852" y="2290572"/>
            <a:ext cx="2542032" cy="91440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46704" y="2240280"/>
            <a:ext cx="254203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46704" y="2240280"/>
            <a:ext cx="2542032" cy="91440"/>
          </a:xfrm>
          <a:prstGeom prst="roundRect">
            <a:avLst>
              <a:gd name="adj" fmla="val 50000"/>
            </a:avLst>
          </a:prstGeom>
          <a:solidFill>
            <a:srgbClr val="C7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11296" y="2395728"/>
            <a:ext cx="2240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0201C"/>
                </a:solidFill>
                <a:latin typeface="Trebuchet MS"/>
              </a:rPr>
              <a:t>₹14,386 Cr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11296" y="28529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5648"/>
                </a:solidFill>
                <a:latin typeface="Calibri"/>
              </a:rPr>
              <a:t>NOV · Q4 FY26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4476" y="2290572"/>
            <a:ext cx="2542032" cy="91440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053328" y="2240280"/>
            <a:ext cx="254203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053328" y="2240280"/>
            <a:ext cx="2542032" cy="91440"/>
          </a:xfrm>
          <a:prstGeom prst="roundRect">
            <a:avLst>
              <a:gd name="adj" fmla="val 50000"/>
            </a:avLst>
          </a:prstGeom>
          <a:solidFill>
            <a:srgbClr val="2C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2395728"/>
            <a:ext cx="2240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0201C"/>
                </a:solidFill>
                <a:latin typeface="Trebuchet MS"/>
              </a:rPr>
              <a:t>243 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28529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5648"/>
                </a:solidFill>
                <a:latin typeface="Calibri"/>
              </a:rPr>
              <a:t>orders/qtr · +121% YoY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01099" y="2290572"/>
            <a:ext cx="2542032" cy="91440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759951" y="2240280"/>
            <a:ext cx="254203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759951" y="2240280"/>
            <a:ext cx="2542032" cy="91440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24543" y="2395728"/>
            <a:ext cx="2240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0201C"/>
                </a:solidFill>
                <a:latin typeface="Trebuchet MS"/>
              </a:rPr>
              <a:t>₹20 Cr+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24543" y="28529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5648"/>
                </a:solidFill>
                <a:latin typeface="Calibri"/>
              </a:rPr>
              <a:t>NCR food-economy frontier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3401568"/>
            <a:ext cx="5074920" cy="329184"/>
          </a:xfrm>
          <a:prstGeom prst="roundRect">
            <a:avLst>
              <a:gd name="adj" fmla="val 22000"/>
            </a:avLst>
          </a:prstGeom>
          <a:solidFill>
            <a:srgbClr val="F6C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19" y="3401568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0201C"/>
                </a:solidFill>
                <a:latin typeface="Trebuchet MS"/>
              </a:rPr>
              <a:t>THE DEMAND GAP  ·  why incremental demand leaks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3858768"/>
            <a:ext cx="5074920" cy="566928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1" y="3858768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Trebuchet MS"/>
              </a:rPr>
              <a:t>37.6%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3858768"/>
            <a:ext cx="31546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of NCR demand goes unserved — and climbs every month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1539" y="4517136"/>
            <a:ext cx="4572000" cy="566928"/>
          </a:xfrm>
          <a:prstGeom prst="roundRect">
            <a:avLst>
              <a:gd name="adj" fmla="val 14000"/>
            </a:avLst>
          </a:prstGeom>
          <a:solidFill>
            <a:srgbClr val="C7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6131" y="4517136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Trebuchet MS"/>
              </a:rPr>
              <a:t>+50–76%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74620" y="4517136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frontier corridors grow vs flat +11–28% mature core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43000" y="5175504"/>
            <a:ext cx="4069079" cy="566928"/>
          </a:xfrm>
          <a:prstGeom prst="roundRect">
            <a:avLst>
              <a:gd name="adj" fmla="val 14000"/>
            </a:avLst>
          </a:prstGeom>
          <a:solidFill>
            <a:srgbClr val="D9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07592" y="5175504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0201C"/>
                </a:solidFill>
                <a:latin typeface="Trebuchet MS"/>
              </a:rPr>
              <a:t>~8.4 km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26080" y="5175504"/>
            <a:ext cx="21488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00" b="0" i="0">
                <a:solidFill>
                  <a:srgbClr val="20201C"/>
                </a:solidFill>
                <a:latin typeface="Calibri"/>
              </a:rPr>
              <a:t>to nearest store from the top corridor (outside 10-min)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94460" y="5833872"/>
            <a:ext cx="3566159" cy="566928"/>
          </a:xfrm>
          <a:prstGeom prst="roundRect">
            <a:avLst>
              <a:gd name="adj" fmla="val 14000"/>
            </a:avLst>
          </a:prstGeom>
          <a:solidFill>
            <a:srgbClr val="20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59052" y="5833872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6CB46"/>
                </a:solidFill>
                <a:latin typeface="Trebuchet MS"/>
              </a:rPr>
              <a:t>supply-bound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77540" y="5833872"/>
            <a:ext cx="16459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00" b="0" i="0">
                <a:solidFill>
                  <a:srgbClr val="F6CB46"/>
                </a:solidFill>
                <a:latin typeface="Calibri"/>
              </a:rPr>
              <a:t>Blinkit itself flags NCR store rollout as the bottleneck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89320" y="3401568"/>
            <a:ext cx="5349240" cy="329184"/>
          </a:xfrm>
          <a:prstGeom prst="roundRect">
            <a:avLst>
              <a:gd name="adj" fmla="val 22000"/>
            </a:avLst>
          </a:prstGeom>
          <a:solidFill>
            <a:srgbClr val="F6C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80759" y="3401568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0201C"/>
                </a:solidFill>
                <a:latin typeface="Trebuchet MS"/>
              </a:rPr>
              <a:t>WHERE BLINKIT SITS VS RIVALS (FY26)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30468" y="3872483"/>
            <a:ext cx="5349240" cy="132588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989320" y="3822191"/>
            <a:ext cx="534924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172200" y="3950208"/>
            <a:ext cx="4983480" cy="292608"/>
          </a:xfrm>
          <a:prstGeom prst="roundRect">
            <a:avLst>
              <a:gd name="adj" fmla="val 12000"/>
            </a:avLst>
          </a:prstGeom>
          <a:solidFill>
            <a:srgbClr val="20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63640" y="3950208"/>
            <a:ext cx="152979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Trebuchet MS"/>
              </a:rPr>
              <a:t>Player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8023" y="3950208"/>
            <a:ext cx="93177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Trebuchet MS"/>
              </a:rPr>
              <a:t>Stores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4388" y="3950208"/>
            <a:ext cx="93177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Trebuchet MS"/>
              </a:rPr>
              <a:t>AOV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50754" y="3950208"/>
            <a:ext cx="93177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Trebuchet MS"/>
              </a:rPr>
              <a:t>Contrib.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72200" y="4242816"/>
            <a:ext cx="4983480" cy="292608"/>
          </a:xfrm>
          <a:prstGeom prst="roundRect">
            <a:avLst>
              <a:gd name="adj" fmla="val 2000"/>
            </a:avLst>
          </a:prstGeom>
          <a:solidFill>
            <a:srgbClr val="FBE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172200" y="4524451"/>
            <a:ext cx="4983480" cy="10972"/>
          </a:xfrm>
          <a:prstGeom prst="roundRect">
            <a:avLst>
              <a:gd name="adj" fmla="val 0"/>
            </a:avLst>
          </a:prstGeom>
          <a:solidFill>
            <a:srgbClr val="E7D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63640" y="4242816"/>
            <a:ext cx="152979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0201C"/>
                </a:solidFill>
                <a:latin typeface="Calibri"/>
              </a:rPr>
              <a:t>Blinkit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58023" y="4242816"/>
            <a:ext cx="93177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20201C"/>
                </a:solidFill>
                <a:latin typeface="Calibri"/>
              </a:rPr>
              <a:t>2,243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4388" y="4242816"/>
            <a:ext cx="93177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20201C"/>
                </a:solidFill>
                <a:latin typeface="Calibri"/>
              </a:rPr>
              <a:t>₹525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50754" y="4242816"/>
            <a:ext cx="93177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20201C"/>
                </a:solidFill>
                <a:latin typeface="Calibri"/>
              </a:rPr>
              <a:t>+₹30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72200" y="4817059"/>
            <a:ext cx="4983480" cy="10972"/>
          </a:xfrm>
          <a:prstGeom prst="roundRect">
            <a:avLst>
              <a:gd name="adj" fmla="val 0"/>
            </a:avLst>
          </a:prstGeom>
          <a:solidFill>
            <a:srgbClr val="E7D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63640" y="4535424"/>
            <a:ext cx="152979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0201C"/>
                </a:solidFill>
                <a:latin typeface="Calibri"/>
              </a:rPr>
              <a:t>Instamart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58023" y="4535424"/>
            <a:ext cx="93177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20201C"/>
                </a:solidFill>
                <a:latin typeface="Calibri"/>
              </a:rPr>
              <a:t>1,136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4388" y="4535424"/>
            <a:ext cx="93177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20201C"/>
                </a:solidFill>
                <a:latin typeface="Calibri"/>
              </a:rPr>
              <a:t>₹746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50754" y="4535424"/>
            <a:ext cx="93177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20201C"/>
                </a:solidFill>
                <a:latin typeface="Calibri"/>
              </a:rPr>
              <a:t>−2.5%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172200" y="5109667"/>
            <a:ext cx="4983480" cy="10972"/>
          </a:xfrm>
          <a:prstGeom prst="roundRect">
            <a:avLst>
              <a:gd name="adj" fmla="val 0"/>
            </a:avLst>
          </a:prstGeom>
          <a:solidFill>
            <a:srgbClr val="E7D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63640" y="4828032"/>
            <a:ext cx="152979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0201C"/>
                </a:solidFill>
                <a:latin typeface="Calibri"/>
              </a:rPr>
              <a:t>Zepto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58023" y="4828032"/>
            <a:ext cx="93177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20201C"/>
                </a:solidFill>
                <a:latin typeface="Calibri"/>
              </a:rPr>
              <a:t>~1,150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54388" y="4828032"/>
            <a:ext cx="93177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20201C"/>
                </a:solidFill>
                <a:latin typeface="Calibri"/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50754" y="4828032"/>
            <a:ext cx="93177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20201C"/>
                </a:solidFill>
                <a:latin typeface="Calibri"/>
              </a:rPr>
              <a:t>thin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89320" y="5257800"/>
            <a:ext cx="5349240" cy="329184"/>
          </a:xfrm>
          <a:prstGeom prst="roundRect">
            <a:avLst>
              <a:gd name="adj" fmla="val 22000"/>
            </a:avLst>
          </a:prstGeom>
          <a:solidFill>
            <a:srgbClr val="F6C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80759" y="5257800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0201C"/>
                </a:solidFill>
                <a:latin typeface="Trebuchet MS"/>
              </a:rPr>
              <a:t>THE FRONTIER IS WHERE WE'RE THIN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030468" y="5728716"/>
            <a:ext cx="5349240" cy="1024128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989320" y="5678424"/>
            <a:ext cx="534924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5760720"/>
            <a:ext cx="2743200" cy="877824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9006840" y="5779008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C5648"/>
                </a:solidFill>
                <a:latin typeface="Calibri"/>
              </a:rPr>
              <a:t>Unserved share rose every month across 20 NCR zones &amp; ~300k order-attempts (6 mo) — a structural supply gap, not noise.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292608" y="146304"/>
            <a:ext cx="1783080" cy="457200"/>
          </a:xfrm>
          <a:prstGeom prst="homePlate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Gap</a:t>
            </a:r>
          </a:p>
        </p:txBody>
      </p:sp>
      <p:sp>
        <p:nvSpPr>
          <p:cNvPr id="5" name="Chevron 4"/>
          <p:cNvSpPr/>
          <p:nvPr/>
        </p:nvSpPr>
        <p:spPr>
          <a:xfrm>
            <a:off x="1883664" y="146304"/>
            <a:ext cx="1783080" cy="457200"/>
          </a:xfrm>
          <a:prstGeom prst="chevron">
            <a:avLst/>
          </a:prstGeom>
          <a:solidFill>
            <a:srgbClr val="20201C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57984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6CB46"/>
                </a:solidFill>
                <a:latin typeface="Trebuchet MS"/>
              </a:rPr>
              <a:t>The Model</a:t>
            </a:r>
          </a:p>
        </p:txBody>
      </p:sp>
      <p:sp>
        <p:nvSpPr>
          <p:cNvPr id="7" name="Chevron 6"/>
          <p:cNvSpPr/>
          <p:nvPr/>
        </p:nvSpPr>
        <p:spPr>
          <a:xfrm>
            <a:off x="3474720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Pick</a:t>
            </a:r>
          </a:p>
        </p:txBody>
      </p:sp>
      <p:sp>
        <p:nvSpPr>
          <p:cNvPr id="9" name="Chevron 8"/>
          <p:cNvSpPr/>
          <p:nvPr/>
        </p:nvSpPr>
        <p:spPr>
          <a:xfrm>
            <a:off x="5065776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0096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Rollout</a:t>
            </a:r>
          </a:p>
        </p:txBody>
      </p:sp>
      <p:sp>
        <p:nvSpPr>
          <p:cNvPr id="11" name="Chevron 10"/>
          <p:cNvSpPr/>
          <p:nvPr/>
        </p:nvSpPr>
        <p:spPr>
          <a:xfrm>
            <a:off x="6656832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Economics</a:t>
            </a:r>
          </a:p>
        </p:txBody>
      </p:sp>
      <p:sp>
        <p:nvSpPr>
          <p:cNvPr id="13" name="Chevron 12"/>
          <p:cNvSpPr/>
          <p:nvPr/>
        </p:nvSpPr>
        <p:spPr>
          <a:xfrm>
            <a:off x="8247888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210312"/>
            <a:ext cx="1682496" cy="7680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0201C"/>
                </a:solidFill>
                <a:latin typeface="Trebuchet MS"/>
              </a:rPr>
              <a:t>blink</a:t>
            </a:r>
            <a:r>
              <a:rPr sz="1600" b="1">
                <a:solidFill>
                  <a:srgbClr val="2C813A"/>
                </a:solidFill>
                <a:latin typeface="Trebuchet MS"/>
              </a:rPr>
              <a:t>it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-1865376" y="36576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1">
                <a:solidFill>
                  <a:srgbClr val="8E876F"/>
                </a:solidFill>
                <a:latin typeface="Trebuchet MS"/>
              </a:rPr>
              <a:t>How we score the frontier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71323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0201C"/>
                </a:solidFill>
                <a:latin typeface="Trebuchet MS"/>
              </a:rPr>
              <a:t>A weighted opportunity model — built in SQL, with two hard guards.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" y="1421892"/>
            <a:ext cx="5074920" cy="676656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1371600"/>
            <a:ext cx="5074920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1" y="15179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6CB46"/>
          </a:solidFill>
          <a:ln w="12700">
            <a:solidFill>
              <a:srgbClr val="20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151790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0201C"/>
                </a:solidFill>
                <a:latin typeface="Trebuchet MS"/>
              </a:rPr>
              <a:t>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19" y="1463040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201C"/>
                </a:solidFill>
                <a:latin typeface="Trebuchet MS"/>
              </a:rPr>
              <a:t>Demand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17647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648"/>
                </a:solidFill>
                <a:latin typeface="Calibri"/>
              </a:rPr>
              <a:t>recent-quarter order attempts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" y="2189988"/>
            <a:ext cx="5074920" cy="676656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2139696"/>
            <a:ext cx="5074920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671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6CB46"/>
          </a:solidFill>
          <a:ln w="12700">
            <a:solidFill>
              <a:srgbClr val="20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" y="2286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0201C"/>
                </a:solidFill>
                <a:latin typeface="Trebuchet MS"/>
              </a:rPr>
              <a:t>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19" y="2231136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201C"/>
                </a:solidFill>
                <a:latin typeface="Trebuchet MS"/>
              </a:rPr>
              <a:t>Demand density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25328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648"/>
                </a:solidFill>
                <a:latin typeface="Calibri"/>
              </a:rPr>
              <a:t>attempts / 1,000 households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" y="2958084"/>
            <a:ext cx="5074920" cy="676656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2907791"/>
            <a:ext cx="5074920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1" y="30540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6CB46"/>
          </a:solidFill>
          <a:ln w="12700">
            <a:solidFill>
              <a:srgbClr val="20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30540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0201C"/>
                </a:solidFill>
                <a:latin typeface="Trebuchet MS"/>
              </a:rPr>
              <a:t>25%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19" y="2999232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201C"/>
                </a:solidFill>
                <a:latin typeface="Trebuchet MS"/>
              </a:rPr>
              <a:t>Growth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19" y="330098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648"/>
                </a:solidFill>
                <a:latin typeface="Calibri"/>
              </a:rPr>
              <a:t>6-month demand trajectory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1228" y="3726179"/>
            <a:ext cx="5074920" cy="676656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080" y="3675887"/>
            <a:ext cx="5074920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4671" y="382219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6CB46"/>
          </a:solidFill>
          <a:ln w="12700">
            <a:solidFill>
              <a:srgbClr val="20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" y="382219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0201C"/>
                </a:solidFill>
                <a:latin typeface="Trebuchet MS"/>
              </a:rPr>
              <a:t>25%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19" y="3767327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201C"/>
                </a:solidFill>
                <a:latin typeface="Trebuchet MS"/>
              </a:rPr>
              <a:t>Under-service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19" y="4069079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648"/>
                </a:solidFill>
                <a:latin typeface="Calibri"/>
              </a:rPr>
              <a:t>% of demand left unserviceable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1228" y="4549140"/>
            <a:ext cx="5074920" cy="786384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" y="4498848"/>
            <a:ext cx="5074920" cy="786384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 w="12700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59" y="460857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E876F"/>
                </a:solidFill>
                <a:latin typeface="Trebuchet MS"/>
              </a:rPr>
              <a:t>THE SCORE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59" y="4882896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 i="0">
                <a:solidFill>
                  <a:srgbClr val="20201C"/>
                </a:solidFill>
                <a:latin typeface="Calibri"/>
              </a:rPr>
              <a:t>opp = 100 × (0.30·demand + 0.20·density + 0.25·growth + 0.25·unmet), each min-max-normalised across candidates.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1228" y="5463540"/>
            <a:ext cx="5074920" cy="768096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80" y="5413248"/>
            <a:ext cx="5074920" cy="768096"/>
          </a:xfrm>
          <a:prstGeom prst="roundRect">
            <a:avLst>
              <a:gd name="adj" fmla="val 5000"/>
            </a:avLst>
          </a:prstGeom>
          <a:solidFill>
            <a:srgbClr val="20201C"/>
          </a:solidFill>
          <a:ln w="12700">
            <a:solidFill>
              <a:srgbClr val="20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59" y="551383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6CB46"/>
                </a:solidFill>
                <a:latin typeface="Trebuchet MS"/>
              </a:rPr>
              <a:t>GUARDS — applied after scoring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59" y="5788152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≥90% already served → DON'T (cannibalisation).   Catchment &lt; 40k HH → DON'T (sub-scale).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32764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E876F"/>
                </a:solidFill>
                <a:latin typeface="Calibri"/>
              </a:rPr>
              <a:t>Data: reproducible SQL over a synthetic-but-realistic order log (20 zones · 6 mo · ~300k attempts), modelled on Blinkit's public NCR footprint.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0" y="1371600"/>
            <a:ext cx="5394960" cy="329184"/>
          </a:xfrm>
          <a:prstGeom prst="roundRect">
            <a:avLst>
              <a:gd name="adj" fmla="val 22000"/>
            </a:avLst>
          </a:prstGeom>
          <a:solidFill>
            <a:srgbClr val="F6C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0" y="1371600"/>
            <a:ext cx="5212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0201C"/>
                </a:solidFill>
                <a:latin typeface="Trebuchet MS"/>
              </a:rPr>
              <a:t>OPPORTUNITY SCORE BY CANDIDATE CORRIDOR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84748" y="1842516"/>
            <a:ext cx="5394960" cy="3977639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943600" y="1792224"/>
            <a:ext cx="539496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o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920240"/>
            <a:ext cx="5074920" cy="3703320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5984748" y="5920740"/>
            <a:ext cx="5394960" cy="82296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943600" y="5870448"/>
            <a:ext cx="5394960" cy="822960"/>
          </a:xfrm>
          <a:prstGeom prst="roundRect">
            <a:avLst>
              <a:gd name="adj" fmla="val 5000"/>
            </a:avLst>
          </a:prstGeom>
          <a:solidFill>
            <a:srgbClr val="FBEFC4"/>
          </a:solidFill>
          <a:ln w="12700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44768" y="5943600"/>
            <a:ext cx="50292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0201C"/>
                </a:solidFill>
                <a:latin typeface="Calibri"/>
              </a:rPr>
              <a:t>Dwarka Expressway tops the model at 95.3 / 100 — well clear of Sohna Road (71.0) and Greater Noida West (66.9). It's the only candidate strong on all four drivers at once.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292608" y="146304"/>
            <a:ext cx="1783080" cy="457200"/>
          </a:xfrm>
          <a:prstGeom prst="homePlate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Gap</a:t>
            </a:r>
          </a:p>
        </p:txBody>
      </p:sp>
      <p:sp>
        <p:nvSpPr>
          <p:cNvPr id="5" name="Chevron 4"/>
          <p:cNvSpPr/>
          <p:nvPr/>
        </p:nvSpPr>
        <p:spPr>
          <a:xfrm>
            <a:off x="1883664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57984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Model</a:t>
            </a:r>
          </a:p>
        </p:txBody>
      </p:sp>
      <p:sp>
        <p:nvSpPr>
          <p:cNvPr id="7" name="Chevron 6"/>
          <p:cNvSpPr/>
          <p:nvPr/>
        </p:nvSpPr>
        <p:spPr>
          <a:xfrm>
            <a:off x="3474720" y="146304"/>
            <a:ext cx="1783080" cy="457200"/>
          </a:xfrm>
          <a:prstGeom prst="chevron">
            <a:avLst/>
          </a:prstGeom>
          <a:solidFill>
            <a:srgbClr val="20201C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6CB46"/>
                </a:solidFill>
                <a:latin typeface="Trebuchet MS"/>
              </a:rPr>
              <a:t>The Pick</a:t>
            </a:r>
          </a:p>
        </p:txBody>
      </p:sp>
      <p:sp>
        <p:nvSpPr>
          <p:cNvPr id="9" name="Chevron 8"/>
          <p:cNvSpPr/>
          <p:nvPr/>
        </p:nvSpPr>
        <p:spPr>
          <a:xfrm>
            <a:off x="5065776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0096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Rollout</a:t>
            </a:r>
          </a:p>
        </p:txBody>
      </p:sp>
      <p:sp>
        <p:nvSpPr>
          <p:cNvPr id="11" name="Chevron 10"/>
          <p:cNvSpPr/>
          <p:nvPr/>
        </p:nvSpPr>
        <p:spPr>
          <a:xfrm>
            <a:off x="6656832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Economics</a:t>
            </a:r>
          </a:p>
        </p:txBody>
      </p:sp>
      <p:sp>
        <p:nvSpPr>
          <p:cNvPr id="13" name="Chevron 12"/>
          <p:cNvSpPr/>
          <p:nvPr/>
        </p:nvSpPr>
        <p:spPr>
          <a:xfrm>
            <a:off x="8247888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210312"/>
            <a:ext cx="1682496" cy="7680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0201C"/>
                </a:solidFill>
                <a:latin typeface="Trebuchet MS"/>
              </a:rPr>
              <a:t>blink</a:t>
            </a:r>
            <a:r>
              <a:rPr sz="1600" b="1">
                <a:solidFill>
                  <a:srgbClr val="2C813A"/>
                </a:solidFill>
                <a:latin typeface="Trebuchet MS"/>
              </a:rPr>
              <a:t>it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-1865376" y="36576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1">
                <a:solidFill>
                  <a:srgbClr val="8E876F"/>
                </a:solidFill>
                <a:latin typeface="Trebuchet MS"/>
              </a:rPr>
              <a:t>The corridor that earns the next 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" y="763524"/>
            <a:ext cx="10698480" cy="1024128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713232"/>
            <a:ext cx="10698480" cy="1024128"/>
          </a:xfrm>
          <a:prstGeom prst="roundRect">
            <a:avLst>
              <a:gd name="adj" fmla="val 5000"/>
            </a:avLst>
          </a:prstGeom>
          <a:solidFill>
            <a:srgbClr val="20201C"/>
          </a:solidFill>
          <a:ln w="12700">
            <a:solidFill>
              <a:srgbClr val="20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82296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6CB46"/>
                </a:solidFill>
                <a:latin typeface="Trebuchet MS"/>
              </a:rPr>
              <a:t>LAUNCH  ·  Dwarka Expressway / New Gurugram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1298448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largest pocket of unmet, high-value demand on Blinkit's NCR frontier.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786384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 i="0">
                <a:solidFill>
                  <a:srgbClr val="F6CB46"/>
                </a:solidFill>
                <a:latin typeface="Trebuchet MS"/>
              </a:rPr>
              <a:t>95.3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3716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9BE9C"/>
                </a:solidFill>
                <a:latin typeface="Calibri"/>
              </a:rPr>
              <a:t>opportunity / 100 · next 71.0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" y="1924812"/>
            <a:ext cx="2542032" cy="86868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1874519"/>
            <a:ext cx="2542032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1874519"/>
            <a:ext cx="91440" cy="868680"/>
          </a:xfrm>
          <a:prstGeom prst="roundRect">
            <a:avLst>
              <a:gd name="adj" fmla="val 40000"/>
            </a:avLst>
          </a:prstGeom>
          <a:solidFill>
            <a:srgbClr val="2C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1993392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201C"/>
                </a:solidFill>
                <a:latin typeface="Trebuchet MS"/>
              </a:rPr>
              <a:t>Biggest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232257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648"/>
                </a:solidFill>
                <a:latin typeface="Calibri"/>
              </a:rPr>
              <a:t>15.7k attempts/qtr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7852" y="1924812"/>
            <a:ext cx="2542032" cy="86868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46704" y="1874519"/>
            <a:ext cx="2542032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46704" y="1874519"/>
            <a:ext cx="91440" cy="868680"/>
          </a:xfrm>
          <a:prstGeom prst="roundRect">
            <a:avLst>
              <a:gd name="adj" fmla="val 40000"/>
            </a:avLst>
          </a:prstGeom>
          <a:solidFill>
            <a:srgbClr val="2C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1993392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201C"/>
                </a:solidFill>
                <a:latin typeface="Trebuchet MS"/>
              </a:rPr>
              <a:t>Fastest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232257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648"/>
                </a:solidFill>
                <a:latin typeface="Calibri"/>
              </a:rPr>
              <a:t>+76% in 6 months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4476" y="1924812"/>
            <a:ext cx="2542032" cy="86868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053328" y="1874519"/>
            <a:ext cx="2542032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53328" y="1874519"/>
            <a:ext cx="91440" cy="868680"/>
          </a:xfrm>
          <a:prstGeom prst="roundRect">
            <a:avLst>
              <a:gd name="adj" fmla="val 4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2784" y="1993392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201C"/>
                </a:solidFill>
                <a:latin typeface="Trebuchet MS"/>
              </a:rPr>
              <a:t>Emptiest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2784" y="232257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648"/>
                </a:solidFill>
                <a:latin typeface="Calibri"/>
              </a:rPr>
              <a:t>77% unserved today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1099" y="1924812"/>
            <a:ext cx="2542032" cy="86868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759951" y="1874519"/>
            <a:ext cx="2542032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759951" y="1874519"/>
            <a:ext cx="91440" cy="868680"/>
          </a:xfrm>
          <a:prstGeom prst="roundRect">
            <a:avLst>
              <a:gd name="adj" fmla="val 40000"/>
            </a:avLst>
          </a:prstGeom>
          <a:solidFill>
            <a:srgbClr val="C7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9407" y="1993392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201C"/>
                </a:solidFill>
                <a:latin typeface="Trebuchet MS"/>
              </a:rPr>
              <a:t>Richest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9407" y="232257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648"/>
                </a:solidFill>
                <a:latin typeface="Calibri"/>
              </a:rPr>
              <a:t>₹580 AOV · 1 rival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2907792"/>
            <a:ext cx="5029200" cy="329184"/>
          </a:xfrm>
          <a:prstGeom prst="roundRect">
            <a:avLst>
              <a:gd name="adj" fmla="val 22000"/>
            </a:avLst>
          </a:prstGeom>
          <a:solidFill>
            <a:srgbClr val="F6C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19" y="2907792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0201C"/>
                </a:solidFill>
                <a:latin typeface="Trebuchet MS"/>
              </a:rPr>
              <a:t>HEAD TO HEAD  ·  Dwarka vs the bigger Greater Noida West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" y="3378708"/>
            <a:ext cx="5029200" cy="233172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0080" y="3328416"/>
            <a:ext cx="50292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22959" y="3456432"/>
            <a:ext cx="4663440" cy="338328"/>
          </a:xfrm>
          <a:prstGeom prst="roundRect">
            <a:avLst>
              <a:gd name="adj" fmla="val 12000"/>
            </a:avLst>
          </a:prstGeom>
          <a:solidFill>
            <a:srgbClr val="20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399" y="3456432"/>
            <a:ext cx="170078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Trebuchet MS"/>
              </a:rPr>
              <a:t>Metric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79776" y="3456432"/>
            <a:ext cx="1234439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Trebuchet MS"/>
              </a:rPr>
              <a:t>Dwarka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78807" y="3456432"/>
            <a:ext cx="1234439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Trebuchet MS"/>
              </a:rPr>
              <a:t>Gr N West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59" y="4122115"/>
            <a:ext cx="4663440" cy="10972"/>
          </a:xfrm>
          <a:prstGeom prst="roundRect">
            <a:avLst>
              <a:gd name="adj" fmla="val 0"/>
            </a:avLst>
          </a:prstGeom>
          <a:solidFill>
            <a:srgbClr val="E7D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399" y="3794759"/>
            <a:ext cx="170078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Calibri"/>
              </a:rPr>
              <a:t>Households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79776" y="3794759"/>
            <a:ext cx="1234439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0201C"/>
                </a:solidFill>
                <a:latin typeface="Calibri"/>
              </a:rPr>
              <a:t>92k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78807" y="3794759"/>
            <a:ext cx="1234439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0201C"/>
                </a:solidFill>
                <a:latin typeface="Calibri"/>
              </a:rPr>
              <a:t>95k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59" y="4133087"/>
            <a:ext cx="4663440" cy="338328"/>
          </a:xfrm>
          <a:prstGeom prst="roundRect">
            <a:avLst>
              <a:gd name="adj" fmla="val 2000"/>
            </a:avLst>
          </a:prstGeom>
          <a:solidFill>
            <a:srgbClr val="FBE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22959" y="4460443"/>
            <a:ext cx="4663440" cy="10972"/>
          </a:xfrm>
          <a:prstGeom prst="roundRect">
            <a:avLst>
              <a:gd name="adj" fmla="val 0"/>
            </a:avLst>
          </a:prstGeom>
          <a:solidFill>
            <a:srgbClr val="E7D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399" y="4133087"/>
            <a:ext cx="170078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Calibri"/>
              </a:rPr>
              <a:t>AOV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79776" y="4133087"/>
            <a:ext cx="1234439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0201C"/>
                </a:solidFill>
                <a:latin typeface="Calibri"/>
              </a:rPr>
              <a:t>₹580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78807" y="4133087"/>
            <a:ext cx="1234439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0201C"/>
                </a:solidFill>
                <a:latin typeface="Calibri"/>
              </a:rPr>
              <a:t>₹452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2959" y="4798771"/>
            <a:ext cx="4663440" cy="10972"/>
          </a:xfrm>
          <a:prstGeom prst="roundRect">
            <a:avLst>
              <a:gd name="adj" fmla="val 0"/>
            </a:avLst>
          </a:prstGeom>
          <a:solidFill>
            <a:srgbClr val="E7D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399" y="4471416"/>
            <a:ext cx="170078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Calibri"/>
              </a:rPr>
              <a:t>Competitors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79776" y="4471416"/>
            <a:ext cx="1234439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0201C"/>
                </a:solidFill>
                <a:latin typeface="Calibri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78807" y="4471416"/>
            <a:ext cx="1234439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0201C"/>
                </a:solidFill>
                <a:latin typeface="Calibri"/>
              </a:rPr>
              <a:t>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2959" y="5137099"/>
            <a:ext cx="4663440" cy="10972"/>
          </a:xfrm>
          <a:prstGeom prst="roundRect">
            <a:avLst>
              <a:gd name="adj" fmla="val 0"/>
            </a:avLst>
          </a:prstGeom>
          <a:solidFill>
            <a:srgbClr val="E7D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399" y="4809744"/>
            <a:ext cx="170078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Calibri"/>
              </a:rPr>
              <a:t>6-mo growth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79776" y="4809744"/>
            <a:ext cx="1234439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0201C"/>
                </a:solidFill>
                <a:latin typeface="Calibri"/>
              </a:rPr>
              <a:t>+76%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78807" y="4809744"/>
            <a:ext cx="1234439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0201C"/>
                </a:solidFill>
                <a:latin typeface="Calibri"/>
              </a:rPr>
              <a:t>+64%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2959" y="5475427"/>
            <a:ext cx="4663440" cy="10972"/>
          </a:xfrm>
          <a:prstGeom prst="roundRect">
            <a:avLst>
              <a:gd name="adj" fmla="val 0"/>
            </a:avLst>
          </a:prstGeom>
          <a:solidFill>
            <a:srgbClr val="E7D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399" y="5148072"/>
            <a:ext cx="170078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Calibri"/>
              </a:rPr>
              <a:t>Opp score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79776" y="5148072"/>
            <a:ext cx="1234439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0201C"/>
                </a:solidFill>
                <a:latin typeface="Calibri"/>
              </a:rPr>
              <a:t>95.3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78807" y="5148072"/>
            <a:ext cx="1234439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0201C"/>
                </a:solidFill>
                <a:latin typeface="Calibri"/>
              </a:rPr>
              <a:t>66.9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1228" y="5847588"/>
            <a:ext cx="5029200" cy="896112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40080" y="5797296"/>
            <a:ext cx="5029200" cy="896112"/>
          </a:xfrm>
          <a:prstGeom prst="roundRect">
            <a:avLst>
              <a:gd name="adj" fmla="val 5000"/>
            </a:avLst>
          </a:prstGeom>
          <a:solidFill>
            <a:srgbClr val="20201C"/>
          </a:solidFill>
          <a:ln w="12700">
            <a:solidFill>
              <a:srgbClr val="20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2959" y="5888736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The call: phase Greater Noida West. Entering now = a 3-way price war on a thin basket, against Blinkit's "no growth on discounting." The model finds candidates; strategy sequences them toward margin.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989320" y="2907792"/>
            <a:ext cx="5349240" cy="329184"/>
          </a:xfrm>
          <a:prstGeom prst="roundRect">
            <a:avLst>
              <a:gd name="adj" fmla="val 22000"/>
            </a:avLst>
          </a:prstGeom>
          <a:solidFill>
            <a:srgbClr val="F6C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80759" y="290779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0201C"/>
                </a:solidFill>
                <a:latin typeface="Trebuchet MS"/>
              </a:rPr>
              <a:t>DECISION MATRIX  ·  unmet demand × basket value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30468" y="3378708"/>
            <a:ext cx="5349240" cy="3364992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989320" y="3328416"/>
            <a:ext cx="5349240" cy="3364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456432"/>
            <a:ext cx="48920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292608" y="146304"/>
            <a:ext cx="1783080" cy="457200"/>
          </a:xfrm>
          <a:prstGeom prst="homePlate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Gap</a:t>
            </a:r>
          </a:p>
        </p:txBody>
      </p:sp>
      <p:sp>
        <p:nvSpPr>
          <p:cNvPr id="5" name="Chevron 4"/>
          <p:cNvSpPr/>
          <p:nvPr/>
        </p:nvSpPr>
        <p:spPr>
          <a:xfrm>
            <a:off x="1883664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57984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Model</a:t>
            </a:r>
          </a:p>
        </p:txBody>
      </p:sp>
      <p:sp>
        <p:nvSpPr>
          <p:cNvPr id="7" name="Chevron 6"/>
          <p:cNvSpPr/>
          <p:nvPr/>
        </p:nvSpPr>
        <p:spPr>
          <a:xfrm>
            <a:off x="3474720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Pick</a:t>
            </a:r>
          </a:p>
        </p:txBody>
      </p:sp>
      <p:sp>
        <p:nvSpPr>
          <p:cNvPr id="9" name="Chevron 8"/>
          <p:cNvSpPr/>
          <p:nvPr/>
        </p:nvSpPr>
        <p:spPr>
          <a:xfrm>
            <a:off x="5065776" y="146304"/>
            <a:ext cx="1783080" cy="457200"/>
          </a:xfrm>
          <a:prstGeom prst="chevron">
            <a:avLst/>
          </a:prstGeom>
          <a:solidFill>
            <a:srgbClr val="20201C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0096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6CB46"/>
                </a:solidFill>
                <a:latin typeface="Trebuchet MS"/>
              </a:rPr>
              <a:t>The Rollout</a:t>
            </a:r>
          </a:p>
        </p:txBody>
      </p:sp>
      <p:sp>
        <p:nvSpPr>
          <p:cNvPr id="11" name="Chevron 10"/>
          <p:cNvSpPr/>
          <p:nvPr/>
        </p:nvSpPr>
        <p:spPr>
          <a:xfrm>
            <a:off x="6656832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Economics</a:t>
            </a:r>
          </a:p>
        </p:txBody>
      </p:sp>
      <p:sp>
        <p:nvSpPr>
          <p:cNvPr id="13" name="Chevron 12"/>
          <p:cNvSpPr/>
          <p:nvPr/>
        </p:nvSpPr>
        <p:spPr>
          <a:xfrm>
            <a:off x="8247888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210312"/>
            <a:ext cx="1682496" cy="7680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0201C"/>
                </a:solidFill>
                <a:latin typeface="Trebuchet MS"/>
              </a:rPr>
              <a:t>blink</a:t>
            </a:r>
            <a:r>
              <a:rPr sz="1600" b="1">
                <a:solidFill>
                  <a:srgbClr val="2C813A"/>
                </a:solidFill>
                <a:latin typeface="Trebuchet MS"/>
              </a:rPr>
              <a:t>it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-1865376" y="36576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1">
                <a:solidFill>
                  <a:srgbClr val="8E876F"/>
                </a:solidFill>
                <a:latin typeface="Trebuchet MS"/>
              </a:rPr>
              <a:t>From catchment to 1,300 orders/day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71323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0201C"/>
                </a:solidFill>
                <a:latin typeface="Trebuchet MS"/>
              </a:rPr>
              <a:t>From a 92k-household catchment to a profitable store — in four phases.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371600"/>
            <a:ext cx="3840480" cy="329184"/>
          </a:xfrm>
          <a:prstGeom prst="roundRect">
            <a:avLst>
              <a:gd name="adj" fmla="val 22000"/>
            </a:avLst>
          </a:prstGeom>
          <a:solidFill>
            <a:srgbClr val="F6C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" y="1371600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0201C"/>
                </a:solidFill>
                <a:latin typeface="Trebuchet MS"/>
              </a:rPr>
              <a:t>MARKET SIZING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1828800"/>
            <a:ext cx="3840480" cy="731520"/>
          </a:xfrm>
          <a:prstGeom prst="roundRect">
            <a:avLst>
              <a:gd name="adj" fmla="val 13000"/>
            </a:avLst>
          </a:prstGeom>
          <a:solidFill>
            <a:srgbClr val="F6CB46"/>
          </a:solidFill>
          <a:ln w="11430">
            <a:solidFill>
              <a:srgbClr val="20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1920240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0201C"/>
                </a:solidFill>
                <a:latin typeface="Trebuchet MS"/>
              </a:rPr>
              <a:t>92,000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2249424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5648"/>
                </a:solidFill>
                <a:latin typeface="Calibri"/>
              </a:rPr>
              <a:t>households in catchment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2670048"/>
            <a:ext cx="3383280" cy="731520"/>
          </a:xfrm>
          <a:prstGeom prst="roundRect">
            <a:avLst>
              <a:gd name="adj" fmla="val 13000"/>
            </a:avLst>
          </a:prstGeom>
          <a:solidFill>
            <a:srgbClr val="D9A93A"/>
          </a:solidFill>
          <a:ln w="11430">
            <a:solidFill>
              <a:srgbClr val="20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1" y="2761488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0201C"/>
                </a:solidFill>
                <a:latin typeface="Trebuchet MS"/>
              </a:rPr>
              <a:t>~20,000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3090672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5648"/>
                </a:solidFill>
                <a:latin typeface="Calibri"/>
              </a:rPr>
              <a:t>quick-commerce-active (~22%)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511296"/>
            <a:ext cx="2926080" cy="731520"/>
          </a:xfrm>
          <a:prstGeom prst="roundRect">
            <a:avLst>
              <a:gd name="adj" fmla="val 13000"/>
            </a:avLst>
          </a:prstGeom>
          <a:solidFill>
            <a:srgbClr val="C7791B"/>
          </a:solidFill>
          <a:ln w="11430">
            <a:solidFill>
              <a:srgbClr val="20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61872" y="3602736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Trebuchet MS"/>
              </a:rPr>
              <a:t>~1,340/day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3931920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BF3D6"/>
                </a:solidFill>
                <a:latin typeface="Calibri"/>
              </a:rPr>
              <a:t>orders unmet today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25880" y="4352544"/>
            <a:ext cx="2468880" cy="731520"/>
          </a:xfrm>
          <a:prstGeom prst="roundRect">
            <a:avLst>
              <a:gd name="adj" fmla="val 13000"/>
            </a:avLst>
          </a:prstGeom>
          <a:solidFill>
            <a:srgbClr val="2C813A"/>
          </a:solidFill>
          <a:ln w="11430">
            <a:solidFill>
              <a:srgbClr val="20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0472" y="4443983"/>
            <a:ext cx="2148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Trebuchet MS"/>
              </a:rPr>
              <a:t>~1,300/day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0472" y="4773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BF3D6"/>
                </a:solidFill>
                <a:latin typeface="Calibri"/>
              </a:rPr>
              <a:t>conservative target at maturity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1228" y="5399531"/>
            <a:ext cx="3840480" cy="132588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5349240"/>
            <a:ext cx="3840480" cy="1325880"/>
          </a:xfrm>
          <a:prstGeom prst="roundRect">
            <a:avLst>
              <a:gd name="adj" fmla="val 5000"/>
            </a:avLst>
          </a:prstGeom>
          <a:solidFill>
            <a:srgbClr val="FBEFC4"/>
          </a:solidFill>
          <a:ln w="12700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" y="5458968"/>
            <a:ext cx="35204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0201C"/>
                </a:solidFill>
                <a:latin typeface="Calibri"/>
              </a:rPr>
              <a:t>Break-even is ~815 orders/day. The conservative 1,300/day maturity target clears it with room — and is below Blinkit's ~1,300 network average, so it's not heroic.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0" y="1371600"/>
            <a:ext cx="6583680" cy="329184"/>
          </a:xfrm>
          <a:prstGeom prst="roundRect">
            <a:avLst>
              <a:gd name="adj" fmla="val 22000"/>
            </a:avLst>
          </a:prstGeom>
          <a:solidFill>
            <a:srgbClr val="F6C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1371600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0201C"/>
                </a:solidFill>
                <a:latin typeface="Trebuchet MS"/>
              </a:rPr>
              <a:t>90-DAY → 6-MONTH ROLLOUT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96028" y="1879092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754880" y="182880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754880" y="1828800"/>
            <a:ext cx="3200400" cy="91440"/>
          </a:xfrm>
          <a:prstGeom prst="roundRect">
            <a:avLst>
              <a:gd name="adj" fmla="val 40000"/>
            </a:avLst>
          </a:prstGeom>
          <a:solidFill>
            <a:srgbClr val="2C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0" y="19751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E876F"/>
                </a:solidFill>
                <a:latin typeface="Trebuchet MS"/>
              </a:rPr>
              <a:t>Phase 1  ·  Wk −8→0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2249424"/>
            <a:ext cx="2834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201C"/>
                </a:solidFill>
                <a:latin typeface="Trebuchet MS"/>
              </a:rPr>
              <a:t>Foundations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2578608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C5648"/>
                </a:solidFill>
                <a:latin typeface="Calibri"/>
              </a:rPr>
              <a:t>Secure site &amp; permits, fit-out 5–7k sqft, hire, localise 1P assortment.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3588" y="1879092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092440" y="182880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092440" y="1828800"/>
            <a:ext cx="3200400" cy="91440"/>
          </a:xfrm>
          <a:prstGeom prst="roundRect">
            <a:avLst>
              <a:gd name="adj" fmla="val 40000"/>
            </a:avLst>
          </a:prstGeom>
          <a:solidFill>
            <a:srgbClr val="C7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19" y="19751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E876F"/>
                </a:solidFill>
                <a:latin typeface="Trebuchet MS"/>
              </a:rPr>
              <a:t>Phase 2  ·  Wk 1–2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19" y="2249424"/>
            <a:ext cx="2834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201C"/>
                </a:solidFill>
                <a:latin typeface="Trebuchet MS"/>
              </a:rPr>
              <a:t>Soft launch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19" y="2578608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C5648"/>
                </a:solidFill>
                <a:latin typeface="Calibri"/>
              </a:rPr>
              <a:t>Tight delivery radius; re-target previously-unserviceable customers first.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96028" y="3479292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754880" y="342900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754880" y="3429000"/>
            <a:ext cx="3200400" cy="91440"/>
          </a:xfrm>
          <a:prstGeom prst="roundRect">
            <a:avLst>
              <a:gd name="adj" fmla="val 40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37760" y="35753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E876F"/>
                </a:solidFill>
                <a:latin typeface="Trebuchet MS"/>
              </a:rPr>
              <a:t>Phase 3  ·  Wk 3–8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60" y="3849624"/>
            <a:ext cx="2834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201C"/>
                </a:solidFill>
                <a:latin typeface="Trebuchet MS"/>
              </a:rPr>
              <a:t>Ramp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60" y="4178808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C5648"/>
                </a:solidFill>
                <a:latin typeface="Calibri"/>
              </a:rPr>
              <a:t>Widen radius; geo-targeted CAC, no deep discounts → ~850 orders/day.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33588" y="3479292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092440" y="342900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092440" y="3429000"/>
            <a:ext cx="3200400" cy="91440"/>
          </a:xfrm>
          <a:prstGeom prst="roundRect">
            <a:avLst>
              <a:gd name="adj" fmla="val 4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19" y="35753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E876F"/>
                </a:solidFill>
                <a:latin typeface="Trebuchet MS"/>
              </a:rPr>
              <a:t>Phase 4  ·  Mo 3–6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19" y="3849624"/>
            <a:ext cx="2834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201C"/>
                </a:solidFill>
                <a:latin typeface="Trebuchet MS"/>
              </a:rPr>
              <a:t>Optimise &amp; scale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5319" y="4178808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C5648"/>
                </a:solidFill>
                <a:latin typeface="Calibri"/>
              </a:rPr>
              <a:t>Drive 80% utilisation; once cannibalisation &lt;10%, green-light Gr Noida West.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37760" y="6190488"/>
            <a:ext cx="6217920" cy="27432"/>
          </a:xfrm>
          <a:prstGeom prst="roundRect">
            <a:avLst>
              <a:gd name="adj" fmla="val 0"/>
            </a:avLst>
          </a:prstGeom>
          <a:solidFill>
            <a:srgbClr val="E3B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321808" y="59893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0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21808" y="59893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6CB46"/>
                </a:solidFill>
                <a:latin typeface="Trebuchet MS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54880" y="6373368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5C5648"/>
                </a:solidFill>
                <a:latin typeface="Calibri"/>
              </a:rPr>
              <a:t>Permits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19088" y="59893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0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19088" y="59893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6CB46"/>
                </a:solidFill>
                <a:latin typeface="Trebuchet MS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52160" y="6373368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5C5648"/>
                </a:solidFill>
                <a:latin typeface="Calibri"/>
              </a:rPr>
              <a:t>Cycle/site live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16368" y="59893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0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16368" y="59893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6CB46"/>
                </a:solidFill>
                <a:latin typeface="Trebuchet MS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49440" y="6373368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5C5648"/>
                </a:solidFill>
                <a:latin typeface="Calibri"/>
              </a:rPr>
              <a:t>GNN notif pilot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613648" y="59893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0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13648" y="59893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6CB46"/>
                </a:solidFill>
                <a:latin typeface="Trebuchet MS"/>
              </a:rP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46720" y="6373368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5C5648"/>
                </a:solidFill>
                <a:latin typeface="Calibri"/>
              </a:rPr>
              <a:t>Lottery + influencers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710928" y="59893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0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710928" y="59893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6CB46"/>
                </a:solidFill>
                <a:latin typeface="Trebuchet MS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0" y="6373368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5C5648"/>
                </a:solidFill>
                <a:latin typeface="Calibri"/>
              </a:rPr>
              <a:t>Split-cart + late-night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808208" y="59893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0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808208" y="59893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6CB46"/>
                </a:solidFill>
                <a:latin typeface="Trebuchet MS"/>
              </a:rP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41280" y="6373368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5C5648"/>
                </a:solidFill>
                <a:latin typeface="Calibri"/>
              </a:rPr>
              <a:t>Scale to next corridor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292608" y="146304"/>
            <a:ext cx="1783080" cy="457200"/>
          </a:xfrm>
          <a:prstGeom prst="homePlate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Gap</a:t>
            </a:r>
          </a:p>
        </p:txBody>
      </p:sp>
      <p:sp>
        <p:nvSpPr>
          <p:cNvPr id="5" name="Chevron 4"/>
          <p:cNvSpPr/>
          <p:nvPr/>
        </p:nvSpPr>
        <p:spPr>
          <a:xfrm>
            <a:off x="1883664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57984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Model</a:t>
            </a:r>
          </a:p>
        </p:txBody>
      </p:sp>
      <p:sp>
        <p:nvSpPr>
          <p:cNvPr id="7" name="Chevron 6"/>
          <p:cNvSpPr/>
          <p:nvPr/>
        </p:nvSpPr>
        <p:spPr>
          <a:xfrm>
            <a:off x="3474720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Pick</a:t>
            </a:r>
          </a:p>
        </p:txBody>
      </p:sp>
      <p:sp>
        <p:nvSpPr>
          <p:cNvPr id="9" name="Chevron 8"/>
          <p:cNvSpPr/>
          <p:nvPr/>
        </p:nvSpPr>
        <p:spPr>
          <a:xfrm>
            <a:off x="5065776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0096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Rollout</a:t>
            </a:r>
          </a:p>
        </p:txBody>
      </p:sp>
      <p:sp>
        <p:nvSpPr>
          <p:cNvPr id="11" name="Chevron 10"/>
          <p:cNvSpPr/>
          <p:nvPr/>
        </p:nvSpPr>
        <p:spPr>
          <a:xfrm>
            <a:off x="6656832" y="146304"/>
            <a:ext cx="1783080" cy="457200"/>
          </a:xfrm>
          <a:prstGeom prst="chevron">
            <a:avLst/>
          </a:prstGeom>
          <a:solidFill>
            <a:srgbClr val="20201C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6CB46"/>
                </a:solidFill>
                <a:latin typeface="Trebuchet MS"/>
              </a:rPr>
              <a:t>Economics</a:t>
            </a:r>
          </a:p>
        </p:txBody>
      </p:sp>
      <p:sp>
        <p:nvSpPr>
          <p:cNvPr id="13" name="Chevron 12"/>
          <p:cNvSpPr/>
          <p:nvPr/>
        </p:nvSpPr>
        <p:spPr>
          <a:xfrm>
            <a:off x="8247888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210312"/>
            <a:ext cx="1682496" cy="7680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0201C"/>
                </a:solidFill>
                <a:latin typeface="Trebuchet MS"/>
              </a:rPr>
              <a:t>blink</a:t>
            </a:r>
            <a:r>
              <a:rPr sz="1600" b="1">
                <a:solidFill>
                  <a:srgbClr val="2C813A"/>
                </a:solidFill>
                <a:latin typeface="Trebuchet MS"/>
              </a:rPr>
              <a:t>it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-1865376" y="36576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1">
                <a:solidFill>
                  <a:srgbClr val="8E876F"/>
                </a:solidFill>
                <a:latin typeface="Trebuchet MS"/>
              </a:rPr>
              <a:t>Does one store make money?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71323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0201C"/>
                </a:solidFill>
                <a:latin typeface="Trebuchet MS"/>
              </a:rPr>
              <a:t>Break-even ~815/day; EBITDA-positive by Month 3; ~8% of NOV at maturity.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371600"/>
            <a:ext cx="5212080" cy="329184"/>
          </a:xfrm>
          <a:prstGeom prst="roundRect">
            <a:avLst>
              <a:gd name="adj" fmla="val 22000"/>
            </a:avLst>
          </a:prstGeom>
          <a:solidFill>
            <a:srgbClr val="F6C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" y="1371600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0201C"/>
                </a:solidFill>
                <a:latin typeface="Trebuchet MS"/>
              </a:rPr>
              <a:t>PATH TO PROFIT  ·  cumulative store EBITDA (18 mo)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" y="1842516"/>
            <a:ext cx="5212080" cy="269748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1792224"/>
            <a:ext cx="521208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38528"/>
            <a:ext cx="4754880" cy="237744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81228" y="4668012"/>
            <a:ext cx="1243584" cy="91440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617720"/>
            <a:ext cx="124358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736592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0201C"/>
                </a:solidFill>
                <a:latin typeface="Trebuchet MS"/>
              </a:rPr>
              <a:t>₹560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513892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C5648"/>
                </a:solidFill>
                <a:latin typeface="Calibri"/>
              </a:rPr>
              <a:t>AOV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07107" y="4668012"/>
            <a:ext cx="1243584" cy="91440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965960" y="4617720"/>
            <a:ext cx="124358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93976" y="4736592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0201C"/>
                </a:solidFill>
                <a:latin typeface="Trebuchet MS"/>
              </a:rPr>
              <a:t>₹45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93976" y="513892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C5648"/>
                </a:solidFill>
                <a:latin typeface="Calibri"/>
              </a:rPr>
              <a:t>contribution/order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2987" y="4668012"/>
            <a:ext cx="1243584" cy="91440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291839" y="4617720"/>
            <a:ext cx="124358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4736592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0201C"/>
                </a:solidFill>
                <a:latin typeface="Trebuchet MS"/>
              </a:rPr>
              <a:t>815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19856" y="513892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C5648"/>
                </a:solidFill>
                <a:latin typeface="Calibri"/>
              </a:rPr>
              <a:t>break-even/day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58868" y="4668012"/>
            <a:ext cx="1243584" cy="91440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617720" y="4617720"/>
            <a:ext cx="124358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736" y="4736592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0201C"/>
                </a:solidFill>
                <a:latin typeface="Trebuchet MS"/>
              </a:rPr>
              <a:t>~₹1.5 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45736" y="513892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C5648"/>
                </a:solidFill>
                <a:latin typeface="Calibri"/>
              </a:rPr>
              <a:t>cash to open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1228" y="5719572"/>
            <a:ext cx="5212080" cy="100584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" y="5669280"/>
            <a:ext cx="5212080" cy="1005840"/>
          </a:xfrm>
          <a:prstGeom prst="roundRect">
            <a:avLst>
              <a:gd name="adj" fmla="val 5000"/>
            </a:avLst>
          </a:prstGeom>
          <a:solidFill>
            <a:srgbClr val="FBEFC4"/>
          </a:solidFill>
          <a:ln w="12700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5760720"/>
            <a:ext cx="48463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20201C"/>
                </a:solidFill>
                <a:latin typeface="Calibri"/>
              </a:rPr>
              <a:t>Anchored to Blinkit's real economics: blended ~₹30/order today, mature NCR guided to 5–6% of NOV. A premium corridor runs ahead — modelled at ₹45 → ~8% of NOV.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1371600"/>
            <a:ext cx="5303520" cy="329184"/>
          </a:xfrm>
          <a:prstGeom prst="roundRect">
            <a:avLst>
              <a:gd name="adj" fmla="val 22000"/>
            </a:avLst>
          </a:prstGeom>
          <a:solidFill>
            <a:srgbClr val="F6C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79" y="1371600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0201C"/>
                </a:solidFill>
                <a:latin typeface="Trebuchet MS"/>
              </a:rPr>
              <a:t>STORE P&amp;L AT MATURITY (₹ / MONTH)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76188" y="1842516"/>
            <a:ext cx="5303520" cy="214884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035040" y="1792224"/>
            <a:ext cx="53035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17920" y="1920240"/>
            <a:ext cx="4937760" cy="338328"/>
          </a:xfrm>
          <a:prstGeom prst="roundRect">
            <a:avLst>
              <a:gd name="adj" fmla="val 12000"/>
            </a:avLst>
          </a:prstGeom>
          <a:solidFill>
            <a:srgbClr val="20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59" y="1920240"/>
            <a:ext cx="279806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Trebuchet MS"/>
              </a:rPr>
              <a:t>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72015" y="1920240"/>
            <a:ext cx="181051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Trebuchet MS"/>
              </a:rPr>
              <a:t>₹ / month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2585923"/>
            <a:ext cx="4937760" cy="10972"/>
          </a:xfrm>
          <a:prstGeom prst="roundRect">
            <a:avLst>
              <a:gd name="adj" fmla="val 0"/>
            </a:avLst>
          </a:prstGeom>
          <a:solidFill>
            <a:srgbClr val="E7D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2258568"/>
            <a:ext cx="279806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Calibri"/>
              </a:rPr>
              <a:t>Orders (1,300/day)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72015" y="2258568"/>
            <a:ext cx="181051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0201C"/>
                </a:solidFill>
                <a:latin typeface="Calibri"/>
              </a:rPr>
              <a:t>39,000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2924251"/>
            <a:ext cx="4937760" cy="10972"/>
          </a:xfrm>
          <a:prstGeom prst="roundRect">
            <a:avLst>
              <a:gd name="adj" fmla="val 0"/>
            </a:avLst>
          </a:prstGeom>
          <a:solidFill>
            <a:srgbClr val="E7D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59" y="2596896"/>
            <a:ext cx="279806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Calibri"/>
              </a:rPr>
              <a:t>Revenue (AOV ₹560)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72015" y="2596896"/>
            <a:ext cx="181051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0201C"/>
                </a:solidFill>
                <a:latin typeface="Calibri"/>
              </a:rPr>
              <a:t>₹2.18 Cr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0" y="3262579"/>
            <a:ext cx="4937760" cy="10972"/>
          </a:xfrm>
          <a:prstGeom prst="roundRect">
            <a:avLst>
              <a:gd name="adj" fmla="val 0"/>
            </a:avLst>
          </a:prstGeom>
          <a:solidFill>
            <a:srgbClr val="E7D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59" y="2935224"/>
            <a:ext cx="279806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Calibri"/>
              </a:rPr>
              <a:t>Contribution (₹45/order)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72015" y="2935224"/>
            <a:ext cx="181051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0201C"/>
                </a:solidFill>
                <a:latin typeface="Calibri"/>
              </a:rPr>
              <a:t>₹17.6 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3600907"/>
            <a:ext cx="4937760" cy="10972"/>
          </a:xfrm>
          <a:prstGeom prst="roundRect">
            <a:avLst>
              <a:gd name="adj" fmla="val 0"/>
            </a:avLst>
          </a:prstGeom>
          <a:solidFill>
            <a:srgbClr val="E7D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59" y="3273552"/>
            <a:ext cx="279806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Calibri"/>
              </a:rPr>
              <a:t>Fixed opex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72015" y="3273552"/>
            <a:ext cx="181051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0201C"/>
                </a:solidFill>
                <a:latin typeface="Calibri"/>
              </a:rPr>
              <a:t>−₹11.0 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3611880"/>
            <a:ext cx="4937760" cy="338328"/>
          </a:xfrm>
          <a:prstGeom prst="roundRect">
            <a:avLst>
              <a:gd name="adj" fmla="val 2000"/>
            </a:avLst>
          </a:prstGeom>
          <a:solidFill>
            <a:srgbClr val="FBE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217920" y="3939235"/>
            <a:ext cx="4937760" cy="10972"/>
          </a:xfrm>
          <a:prstGeom prst="roundRect">
            <a:avLst>
              <a:gd name="adj" fmla="val 0"/>
            </a:avLst>
          </a:prstGeom>
          <a:solidFill>
            <a:srgbClr val="E7D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59" y="3611880"/>
            <a:ext cx="279806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Calibri"/>
              </a:rPr>
              <a:t>Store EBITDA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72015" y="3611880"/>
            <a:ext cx="181051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20201C"/>
                </a:solidFill>
                <a:latin typeface="Calibri"/>
              </a:rPr>
              <a:t>₹6.6 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35040" y="4114800"/>
            <a:ext cx="5303520" cy="329184"/>
          </a:xfrm>
          <a:prstGeom prst="roundRect">
            <a:avLst>
              <a:gd name="adj" fmla="val 22000"/>
            </a:avLst>
          </a:prstGeom>
          <a:solidFill>
            <a:srgbClr val="F6C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26479" y="4114800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0201C"/>
                </a:solidFill>
                <a:latin typeface="Trebuchet MS"/>
              </a:rPr>
              <a:t>KPIs &amp; GUARDRAILS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076188" y="4585716"/>
            <a:ext cx="2560320" cy="621792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035040" y="4535424"/>
            <a:ext cx="25603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035040" y="4535424"/>
            <a:ext cx="73152" cy="621792"/>
          </a:xfrm>
          <a:prstGeom prst="roundRect">
            <a:avLst>
              <a:gd name="adj" fmla="val 40000"/>
            </a:avLst>
          </a:prstGeom>
          <a:solidFill>
            <a:srgbClr val="2C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36207" y="460857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Orders/day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36207" y="487375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5648"/>
                </a:solidFill>
                <a:latin typeface="Calibri"/>
              </a:rPr>
              <a:t>450→1,300 by M12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773668" y="4585716"/>
            <a:ext cx="2560320" cy="621792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732520" y="4535424"/>
            <a:ext cx="25603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732520" y="4535424"/>
            <a:ext cx="73152" cy="621792"/>
          </a:xfrm>
          <a:prstGeom prst="roundRect">
            <a:avLst>
              <a:gd name="adj" fmla="val 40000"/>
            </a:avLst>
          </a:prstGeom>
          <a:solidFill>
            <a:srgbClr val="2C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33688" y="460857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Delivery p50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33688" y="487375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5648"/>
                </a:solidFill>
                <a:latin typeface="Calibri"/>
              </a:rPr>
              <a:t>≤12 min (vs ~24)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76188" y="5298948"/>
            <a:ext cx="2560320" cy="621792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035040" y="5248656"/>
            <a:ext cx="25603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035040" y="5248656"/>
            <a:ext cx="73152" cy="621792"/>
          </a:xfrm>
          <a:prstGeom prst="roundRect">
            <a:avLst>
              <a:gd name="adj" fmla="val 40000"/>
            </a:avLst>
          </a:prstGeom>
          <a:solidFill>
            <a:srgbClr val="2C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36207" y="53218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Unserviceable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36207" y="5586984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5648"/>
                </a:solidFill>
                <a:latin typeface="Calibri"/>
              </a:rPr>
              <a:t>77% → &lt;10% in 60d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773668" y="5298948"/>
            <a:ext cx="2560320" cy="621792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8732520" y="5248656"/>
            <a:ext cx="25603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732520" y="5248656"/>
            <a:ext cx="73152" cy="621792"/>
          </a:xfrm>
          <a:prstGeom prst="roundRect">
            <a:avLst>
              <a:gd name="adj" fmla="val 40000"/>
            </a:avLst>
          </a:prstGeom>
          <a:solidFill>
            <a:srgbClr val="2C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33688" y="53218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Utilisation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33688" y="5586984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5648"/>
                </a:solidFill>
                <a:latin typeface="Calibri"/>
              </a:rPr>
              <a:t>80% by M6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076188" y="6012179"/>
            <a:ext cx="2560320" cy="621792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035040" y="5961888"/>
            <a:ext cx="25603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6035040" y="5961888"/>
            <a:ext cx="73152" cy="621792"/>
          </a:xfrm>
          <a:prstGeom prst="roundRect">
            <a:avLst>
              <a:gd name="adj" fmla="val 4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36207" y="60350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Cannibalisation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36207" y="630021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5648"/>
                </a:solidFill>
                <a:latin typeface="Calibri"/>
              </a:rPr>
              <a:t>&lt; 10% of volume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773668" y="6012179"/>
            <a:ext cx="2560320" cy="621792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732520" y="5961888"/>
            <a:ext cx="25603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8732520" y="5961888"/>
            <a:ext cx="73152" cy="621792"/>
          </a:xfrm>
          <a:prstGeom prst="roundRect">
            <a:avLst>
              <a:gd name="adj" fmla="val 4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33688" y="60350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Cluster contrib.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33688" y="630021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5648"/>
                </a:solidFill>
                <a:latin typeface="Calibri"/>
              </a:rPr>
              <a:t>stays net positive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292608" y="146304"/>
            <a:ext cx="1783080" cy="457200"/>
          </a:xfrm>
          <a:prstGeom prst="homePlate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Gap</a:t>
            </a:r>
          </a:p>
        </p:txBody>
      </p:sp>
      <p:sp>
        <p:nvSpPr>
          <p:cNvPr id="5" name="Chevron 4"/>
          <p:cNvSpPr/>
          <p:nvPr/>
        </p:nvSpPr>
        <p:spPr>
          <a:xfrm>
            <a:off x="1883664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57984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Model</a:t>
            </a:r>
          </a:p>
        </p:txBody>
      </p:sp>
      <p:sp>
        <p:nvSpPr>
          <p:cNvPr id="7" name="Chevron 6"/>
          <p:cNvSpPr/>
          <p:nvPr/>
        </p:nvSpPr>
        <p:spPr>
          <a:xfrm>
            <a:off x="3474720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Pick</a:t>
            </a:r>
          </a:p>
        </p:txBody>
      </p:sp>
      <p:sp>
        <p:nvSpPr>
          <p:cNvPr id="9" name="Chevron 8"/>
          <p:cNvSpPr/>
          <p:nvPr/>
        </p:nvSpPr>
        <p:spPr>
          <a:xfrm>
            <a:off x="5065776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0096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The Rollout</a:t>
            </a:r>
          </a:p>
        </p:txBody>
      </p:sp>
      <p:sp>
        <p:nvSpPr>
          <p:cNvPr id="11" name="Chevron 10"/>
          <p:cNvSpPr/>
          <p:nvPr/>
        </p:nvSpPr>
        <p:spPr>
          <a:xfrm>
            <a:off x="6656832" y="146304"/>
            <a:ext cx="1783080" cy="457200"/>
          </a:xfrm>
          <a:prstGeom prst="chevron">
            <a:avLst/>
          </a:prstGeom>
          <a:solidFill>
            <a:srgbClr val="F6CB46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0201C"/>
                </a:solidFill>
                <a:latin typeface="Trebuchet MS"/>
              </a:rPr>
              <a:t>Economics</a:t>
            </a:r>
          </a:p>
        </p:txBody>
      </p:sp>
      <p:sp>
        <p:nvSpPr>
          <p:cNvPr id="13" name="Chevron 12"/>
          <p:cNvSpPr/>
          <p:nvPr/>
        </p:nvSpPr>
        <p:spPr>
          <a:xfrm>
            <a:off x="8247888" y="146304"/>
            <a:ext cx="1783080" cy="457200"/>
          </a:xfrm>
          <a:prstGeom prst="chevron">
            <a:avLst/>
          </a:prstGeom>
          <a:solidFill>
            <a:srgbClr val="20201C"/>
          </a:solidFill>
          <a:ln w="9525">
            <a:solidFill>
              <a:srgbClr val="E3B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146304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6CB46"/>
                </a:solidFill>
                <a:latin typeface="Trebuchet MS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210312"/>
            <a:ext cx="1682496" cy="7680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0201C"/>
                </a:solidFill>
                <a:latin typeface="Trebuchet MS"/>
              </a:rPr>
              <a:t>blink</a:t>
            </a:r>
            <a:r>
              <a:rPr sz="1600" b="1">
                <a:solidFill>
                  <a:srgbClr val="2C813A"/>
                </a:solidFill>
                <a:latin typeface="Trebuchet MS"/>
              </a:rPr>
              <a:t>it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-1865376" y="36576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1">
                <a:solidFill>
                  <a:srgbClr val="8E876F"/>
                </a:solidFill>
                <a:latin typeface="Trebuchet MS"/>
              </a:rPr>
              <a:t>The call, the field &amp; the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71323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0201C"/>
                </a:solidFill>
                <a:latin typeface="Trebuchet MS"/>
              </a:rPr>
              <a:t>Launch one, phase the queue, densify one, decline the rest.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" y="1385316"/>
            <a:ext cx="10698480" cy="603504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1335024"/>
            <a:ext cx="10698480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" y="1481328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2C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481328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7712" y="1335024"/>
            <a:ext cx="3200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0201C"/>
                </a:solidFill>
                <a:latin typeface="Trebuchet MS"/>
              </a:rPr>
              <a:t>Dwarka Expressway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335024"/>
            <a:ext cx="7772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C813A"/>
                </a:solidFill>
                <a:latin typeface="Trebuchet MS"/>
              </a:rPr>
              <a:t>95.3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335024"/>
            <a:ext cx="4754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5648"/>
                </a:solidFill>
                <a:latin typeface="Calibri"/>
              </a:rPr>
              <a:t>Biggest warm unmet pool + premium AOV + one rival. Accept ₹1.5 Cr + ramp risk.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011680"/>
            <a:ext cx="10698480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6384" y="2157984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C7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2157984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PHASE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7712" y="2011680"/>
            <a:ext cx="3200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0201C"/>
                </a:solidFill>
                <a:latin typeface="Trebuchet MS"/>
              </a:rPr>
              <a:t>Gr Noida West · Sohna · Faridabad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2011680"/>
            <a:ext cx="7772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7791B"/>
                </a:solidFill>
                <a:latin typeface="Trebuchet MS"/>
              </a:rPr>
              <a:t>57–71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011680"/>
            <a:ext cx="4754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5648"/>
                </a:solidFill>
                <a:latin typeface="Calibri"/>
              </a:rPr>
              <a:t>Real demand; queue behind the marquee. Gr Noida West only on margin, not discounts.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2688336"/>
            <a:ext cx="10698480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6384" y="283464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2834640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DENSIFY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67712" y="2688336"/>
            <a:ext cx="3200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0201C"/>
                </a:solidFill>
                <a:latin typeface="Trebuchet MS"/>
              </a:rPr>
              <a:t>Indirapuram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2688336"/>
            <a:ext cx="7772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F6FB0"/>
                </a:solidFill>
                <a:latin typeface="Trebuchet MS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688336"/>
            <a:ext cx="4754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5648"/>
                </a:solidFill>
                <a:latin typeface="Calibri"/>
              </a:rPr>
              <a:t>Has a store but capacity-strained (11-min, 26% SLA breach). Add a relief store.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3364991"/>
            <a:ext cx="10698480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6384" y="35112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511296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DON'T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67712" y="3364991"/>
            <a:ext cx="3200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0201C"/>
                </a:solidFill>
                <a:latin typeface="Trebuchet MS"/>
              </a:rPr>
              <a:t>Golf Course · GK/CR · Jewar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3364991"/>
            <a:ext cx="7772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0392B"/>
                </a:solidFill>
                <a:latin typeface="Trebuchet MS"/>
              </a:rPr>
              <a:t>26–39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3364991"/>
            <a:ext cx="4754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5648"/>
                </a:solidFill>
                <a:latin typeface="Calibri"/>
              </a:rPr>
              <a:t>~99% already served (cannibalisation) or sub-scale catchments.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4224528"/>
            <a:ext cx="5120640" cy="329184"/>
          </a:xfrm>
          <a:prstGeom prst="roundRect">
            <a:avLst>
              <a:gd name="adj" fmla="val 22000"/>
            </a:avLst>
          </a:prstGeom>
          <a:solidFill>
            <a:srgbClr val="F6C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19" y="4224528"/>
            <a:ext cx="493775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0201C"/>
                </a:solidFill>
                <a:latin typeface="Trebuchet MS"/>
              </a:rPr>
              <a:t>COMPETITIVE EDGE (NCR · FY26)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" y="4695444"/>
            <a:ext cx="5120640" cy="1417320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0080" y="4645152"/>
            <a:ext cx="5120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4671" y="4754880"/>
            <a:ext cx="4800600" cy="283464"/>
          </a:xfrm>
          <a:prstGeom prst="roundRect">
            <a:avLst>
              <a:gd name="adj" fmla="val 12000"/>
            </a:avLst>
          </a:prstGeom>
          <a:solidFill>
            <a:srgbClr val="20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6111" y="4754880"/>
            <a:ext cx="127558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Trebuchet MS"/>
              </a:rPr>
              <a:t>Player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36292" y="4754880"/>
            <a:ext cx="79552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Trebuchet MS"/>
              </a:rPr>
              <a:t>Stores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6412" y="4754880"/>
            <a:ext cx="79552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Trebuchet MS"/>
              </a:rPr>
              <a:t>Contrib.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56531" y="4754880"/>
            <a:ext cx="555497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Trebuchet MS"/>
              </a:rPr>
              <a:t>NCR #1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76621" y="4754880"/>
            <a:ext cx="555497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Trebuchet MS"/>
              </a:rPr>
              <a:t>Profit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4671" y="5038344"/>
            <a:ext cx="4800600" cy="283464"/>
          </a:xfrm>
          <a:prstGeom prst="roundRect">
            <a:avLst>
              <a:gd name="adj" fmla="val 2000"/>
            </a:avLst>
          </a:prstGeom>
          <a:solidFill>
            <a:srgbClr val="FBE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04671" y="5310835"/>
            <a:ext cx="4800600" cy="10972"/>
          </a:xfrm>
          <a:prstGeom prst="roundRect">
            <a:avLst>
              <a:gd name="adj" fmla="val 0"/>
            </a:avLst>
          </a:prstGeom>
          <a:solidFill>
            <a:srgbClr val="E7D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111" y="5038344"/>
            <a:ext cx="127558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0201C"/>
                </a:solidFill>
                <a:latin typeface="Calibri"/>
              </a:rPr>
              <a:t>Blinkit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36292" y="5038344"/>
            <a:ext cx="79552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20201C"/>
                </a:solidFill>
                <a:latin typeface="Calibri"/>
              </a:rPr>
              <a:t>2,243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6412" y="5038344"/>
            <a:ext cx="79552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20201C"/>
                </a:solidFill>
                <a:latin typeface="Calibri"/>
              </a:rPr>
              <a:t>+₹30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6531" y="5038344"/>
            <a:ext cx="555497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20201C"/>
                </a:solidFill>
                <a:latin typeface="Calibri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76621" y="5038344"/>
            <a:ext cx="555497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20201C"/>
                </a:solidFill>
                <a:latin typeface="Calibri"/>
              </a:rPr>
              <a:t>✓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4671" y="5594299"/>
            <a:ext cx="4800600" cy="10972"/>
          </a:xfrm>
          <a:prstGeom prst="roundRect">
            <a:avLst>
              <a:gd name="adj" fmla="val 0"/>
            </a:avLst>
          </a:prstGeom>
          <a:solidFill>
            <a:srgbClr val="E7D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6111" y="5321808"/>
            <a:ext cx="127558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0201C"/>
                </a:solidFill>
                <a:latin typeface="Calibri"/>
              </a:rPr>
              <a:t>Instamart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36292" y="5321808"/>
            <a:ext cx="79552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20201C"/>
                </a:solidFill>
                <a:latin typeface="Calibri"/>
              </a:rPr>
              <a:t>1,136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96412" y="5321808"/>
            <a:ext cx="79552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20201C"/>
                </a:solidFill>
                <a:latin typeface="Calibri"/>
              </a:rPr>
              <a:t>−2.5%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56531" y="5321808"/>
            <a:ext cx="555497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20201C"/>
                </a:solidFill>
                <a:latin typeface="Calibri"/>
              </a:rPr>
              <a:t>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76621" y="5321808"/>
            <a:ext cx="555497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20201C"/>
                </a:solidFill>
                <a:latin typeface="Calibri"/>
              </a:rPr>
              <a:t>✗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4671" y="5877763"/>
            <a:ext cx="4800600" cy="10972"/>
          </a:xfrm>
          <a:prstGeom prst="roundRect">
            <a:avLst>
              <a:gd name="adj" fmla="val 0"/>
            </a:avLst>
          </a:prstGeom>
          <a:solidFill>
            <a:srgbClr val="E7D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6111" y="5605272"/>
            <a:ext cx="127558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0201C"/>
                </a:solidFill>
                <a:latin typeface="Calibri"/>
              </a:rPr>
              <a:t>Zepto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36292" y="5605272"/>
            <a:ext cx="79552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20201C"/>
                </a:solidFill>
                <a:latin typeface="Calibri"/>
              </a:rPr>
              <a:t>~1,150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96412" y="5605272"/>
            <a:ext cx="79552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20201C"/>
                </a:solidFill>
                <a:latin typeface="Calibri"/>
              </a:rPr>
              <a:t>thin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56531" y="5605272"/>
            <a:ext cx="555497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20201C"/>
                </a:solidFill>
                <a:latin typeface="Calibri"/>
              </a:rPr>
              <a:t>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76621" y="5605272"/>
            <a:ext cx="555497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20201C"/>
                </a:solidFill>
                <a:latin typeface="Calibri"/>
              </a:rPr>
              <a:t>✗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614476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C5648"/>
                </a:solidFill>
                <a:latin typeface="Calibri"/>
              </a:rPr>
              <a:t>Blinkit is the only player with NCR scale and a contribution profit — it should press, not defend.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89320" y="4224528"/>
            <a:ext cx="5349240" cy="329184"/>
          </a:xfrm>
          <a:prstGeom prst="roundRect">
            <a:avLst>
              <a:gd name="adj" fmla="val 22000"/>
            </a:avLst>
          </a:prstGeom>
          <a:solidFill>
            <a:srgbClr val="F6C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080759" y="4224528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0201C"/>
                </a:solidFill>
                <a:latin typeface="Trebuchet MS"/>
              </a:rPr>
              <a:t>KEY RISKS &amp; MITIGATIONS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030468" y="4658868"/>
            <a:ext cx="5349240" cy="566928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989320" y="4608576"/>
            <a:ext cx="534924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989320" y="4608576"/>
            <a:ext cx="73152" cy="566928"/>
          </a:xfrm>
          <a:prstGeom prst="roundRect">
            <a:avLst>
              <a:gd name="adj" fmla="val 4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99632" y="4663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0201C"/>
                </a:solidFill>
                <a:latin typeface="Trebuchet MS"/>
              </a:rPr>
              <a:t>Site supply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01000" y="4645152"/>
            <a:ext cx="3291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5648"/>
                </a:solidFill>
                <a:latin typeface="Calibri"/>
              </a:rPr>
              <a:t>Secure the site first; start permits in Phase 1.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030468" y="5298948"/>
            <a:ext cx="5349240" cy="566928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989320" y="5248656"/>
            <a:ext cx="534924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5989320" y="5248656"/>
            <a:ext cx="73152" cy="566928"/>
          </a:xfrm>
          <a:prstGeom prst="roundRect">
            <a:avLst>
              <a:gd name="adj" fmla="val 40000"/>
            </a:avLst>
          </a:prstGeom>
          <a:solidFill>
            <a:srgbClr val="C7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99632" y="5303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0201C"/>
                </a:solidFill>
                <a:latin typeface="Trebuchet MS"/>
              </a:rPr>
              <a:t>Cannibalisation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01000" y="5285232"/>
            <a:ext cx="3291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5648"/>
                </a:solidFill>
                <a:latin typeface="Calibri"/>
              </a:rPr>
              <a:t>Guardrail &lt; 10%; track cluster-level contribution.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030468" y="5939027"/>
            <a:ext cx="5349240" cy="566928"/>
          </a:xfrm>
          <a:prstGeom prst="roundRect">
            <a:avLst>
              <a:gd name="adj" fmla="val 5000"/>
            </a:avLst>
          </a:prstGeom>
          <a:solidFill>
            <a:srgbClr val="E6D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5989320" y="5888736"/>
            <a:ext cx="534924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5989320" y="5888736"/>
            <a:ext cx="73152" cy="566928"/>
          </a:xfrm>
          <a:prstGeom prst="roundRect">
            <a:avLst>
              <a:gd name="adj" fmla="val 40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199632" y="594359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0201C"/>
                </a:solidFill>
                <a:latin typeface="Trebuchet MS"/>
              </a:rPr>
              <a:t>Premium AOV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01000" y="5925312"/>
            <a:ext cx="3291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5648"/>
                </a:solidFill>
                <a:latin typeface="Calibri"/>
              </a:rPr>
              <a:t>Phase the ramp; re-underwrite at Month 3 gate.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0080" y="6547104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1">
                <a:solidFill>
                  <a:srgbClr val="8E876F"/>
                </a:solidFill>
                <a:latin typeface="Calibri"/>
              </a:rPr>
              <a:t>The model finds candidates. Strategy sequences them — toward margin, not volume.   ·   Sources: Eternal/Blinkit FY26 (Q3–Q4). Demand data illustrative.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